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Inter"/>
              </a:defRPr>
            </a:pPr>
            <a:r>
              <a:t>VYAPAR MANDAP</a:t>
            </a:r>
          </a:p>
          <a:p>
            <a:pPr>
              <a:spcBef>
                <a:spcPts val="1400"/>
              </a:spcBef>
              <a:defRPr sz="2000">
                <a:solidFill>
                  <a:srgbClr val="BFDBFE"/>
                </a:solidFill>
                <a:latin typeface="Inter"/>
              </a:defRPr>
            </a:pPr>
            <a:r>
              <a:t>Event-Driven Multi-Agent AI SaaS Platform for Double-Entry Accounting &amp; Indian Compliance</a:t>
            </a:r>
          </a:p>
          <a:p>
            <a:pPr>
              <a:spcBef>
                <a:spcPts val="2800"/>
              </a:spcBef>
              <a:defRPr sz="1400">
                <a:solidFill>
                  <a:srgbClr val="94A3B8"/>
                </a:solidFill>
                <a:latin typeface="Inter"/>
              </a:defRPr>
            </a:pPr>
            <a:r>
              <a:t>Architected &amp; Generated with OpenAI Codex • GST, TDS &amp; Bank Reconciliation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Inter"/>
              </a:defRPr>
            </a:pPr>
            <a:r>
              <a:t>EXECUTIVE SUMMARY</a:t>
            </a:r>
          </a:p>
          <a:p>
            <a:pPr>
              <a:defRPr sz="2400" b="1">
                <a:solidFill>
                  <a:srgbClr val="0F172A"/>
                </a:solidFill>
                <a:latin typeface="Inter"/>
              </a:defRPr>
            </a:pPr>
            <a:r>
              <a:t>The Core Problem &amp; Value Proposition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🚨 The Manual Compliance Nightmare</a:t>
            </a:r>
          </a:p>
          <a:p>
            <a:pPr>
              <a:spcBef>
                <a:spcPts val="1000"/>
              </a:spcBef>
              <a:defRPr sz="1300">
                <a:solidFill>
                  <a:srgbClr val="475569"/>
                </a:solidFill>
              </a:defRPr>
            </a:pPr>
            <a:r>
              <a:t>• 100+ Hours Wasted: Manual entry of PDF vendor bills and scanned paper receipts.</a:t>
            </a:r>
          </a:p>
          <a:p>
            <a:pPr>
              <a:spcBef>
                <a:spcPts val="1000"/>
              </a:spcBef>
              <a:defRPr sz="1300">
                <a:solidFill>
                  <a:srgbClr val="475569"/>
                </a:solidFill>
              </a:defRPr>
            </a:pPr>
            <a:r>
              <a:t>• GSTR-2B Mismatches: Loss of Input Tax Credit (ITC) due to active supplier filing discrepancies.</a:t>
            </a:r>
          </a:p>
          <a:p>
            <a:pPr>
              <a:spcBef>
                <a:spcPts val="1000"/>
              </a:spcBef>
              <a:defRPr sz="1300">
                <a:solidFill>
                  <a:srgbClr val="475569"/>
                </a:solidFill>
              </a:defRPr>
            </a:pPr>
            <a:r>
              <a:t>• Complex TDS Rules: Manual tracking of Section 194C/194J statutory payment thresholds.</a:t>
            </a:r>
          </a:p>
          <a:p>
            <a:pPr>
              <a:spcBef>
                <a:spcPts val="1000"/>
              </a:spcBef>
              <a:defRPr sz="1300">
                <a:solidFill>
                  <a:srgbClr val="475569"/>
                </a:solidFill>
              </a:defRPr>
            </a:pPr>
            <a:r>
              <a:t>• Naive AI Hallucinations: Standard LLMs guess financial numbers and break balancing rules.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1D4ED8"/>
                </a:solidFill>
              </a:defRPr>
            </a:pPr>
            <a:r>
              <a:t>💡 The Vyapar Mandap Solution</a:t>
            </a:r>
          </a:p>
          <a:p>
            <a:pPr>
              <a:spcBef>
                <a:spcPts val="1000"/>
              </a:spcBef>
              <a:defRPr sz="1300">
                <a:solidFill>
                  <a:srgbClr val="0F172A"/>
                </a:solidFill>
              </a:defRPr>
            </a:pPr>
            <a:r>
              <a:t>✓ Vision OCR Extraction: Automated field parsing with confidence scoring (&lt;0.85 flags review).</a:t>
            </a:r>
          </a:p>
          <a:p>
            <a:pPr>
              <a:spcBef>
                <a:spcPts val="1000"/>
              </a:spcBef>
              <a:defRPr sz="1300">
                <a:solidFill>
                  <a:srgbClr val="0F172A"/>
                </a:solidFill>
              </a:defRPr>
            </a:pPr>
            <a:r>
              <a:t>✓ Deterministic Double-Entry: Enforces mathematical balancing formula (Debits = Credits).</a:t>
            </a:r>
          </a:p>
          <a:p>
            <a:pPr>
              <a:spcBef>
                <a:spcPts val="1000"/>
              </a:spcBef>
              <a:defRPr sz="1300">
                <a:solidFill>
                  <a:srgbClr val="0F172A"/>
                </a:solidFill>
              </a:defRPr>
            </a:pPr>
            <a:r>
              <a:t>✓ Human-in-the-Loop Safety: 1-click human signoff required before immutable ledger commit.</a:t>
            </a:r>
          </a:p>
          <a:p>
            <a:pPr>
              <a:spcBef>
                <a:spcPts val="1000"/>
              </a:spcBef>
              <a:defRPr sz="1300">
                <a:solidFill>
                  <a:srgbClr val="0F172A"/>
                </a:solidFill>
              </a:defRPr>
            </a:pPr>
            <a:r>
              <a:t>✓ Reliance &amp; Trust UI: Clean Slate &amp; Royal Blue light mode interface designed for CAs.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Inter"/>
              </a:defRPr>
            </a:pPr>
            <a:r>
              <a:t>SYSTEM DESIGN</a:t>
            </a:r>
          </a:p>
          <a:p>
            <a:pPr>
              <a:defRPr sz="2400" b="1">
                <a:solidFill>
                  <a:srgbClr val="0F172A"/>
                </a:solidFill>
                <a:latin typeface="Inter"/>
              </a:defRPr>
            </a:pPr>
            <a:r>
              <a:t>Decoupled Multi-Agent SaaS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1D4ED8"/>
                </a:solidFill>
              </a:defRPr>
            </a:pPr>
            <a:r>
              <a:t>Client Tier (React 18 + Vite)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Slate Light Theme, Command Palette (Cmd+K), Real-time Activity Ticker, PDF Canvas Viewer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FastAPI Application Cluster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Python 3.11+, Async REST API endpoints, WebSockets streaming (/ws/ai/stream), Pydantic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0"/>
            <a:ext cx="106984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Core Storage &amp; Multi-Agent Pool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PostgreSQL 16 (Relational Ledger), 10 Specialized AI Agents, Redis Queue, S3 Document Storage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Inter"/>
              </a:defRPr>
            </a:pPr>
            <a:r>
              <a:t>MULTI-AGENT ENGINE</a:t>
            </a:r>
          </a:p>
          <a:p>
            <a:pPr>
              <a:defRPr sz="2400" b="1">
                <a:solidFill>
                  <a:srgbClr val="0F172A"/>
                </a:solidFill>
                <a:latin typeface="Inter"/>
              </a:defRPr>
            </a:pPr>
            <a:r>
              <a:t>The 10 Specialized AI Agents Roster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1D4ED8"/>
                </a:solidFill>
              </a:defRPr>
            </a:pPr>
            <a:r>
              <a:t>Supervisor Agent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Orchestrates execution graph &amp; human checkpoints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371600"/>
            <a:ext cx="521208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1D4ED8"/>
                </a:solidFill>
              </a:defRPr>
            </a:pPr>
            <a:r>
              <a:t>Invoice Agent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Vision OCR field extraction &amp; HSN classification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21208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1D4ED8"/>
                </a:solidFill>
              </a:defRPr>
            </a:pPr>
            <a:r>
              <a:t>Ledger Agent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Enforces immutable double-entry balance equality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377440"/>
            <a:ext cx="521208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1D4ED8"/>
                </a:solidFill>
              </a:defRPr>
            </a:pPr>
            <a:r>
              <a:t>GST Agent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Validates GSTINs &amp; GSTR-2B ITC eligibility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521208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1D4ED8"/>
                </a:solidFill>
              </a:defRPr>
            </a:pPr>
            <a:r>
              <a:t>TDS Agent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Section 194C/194J payment threshold calculator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383280"/>
            <a:ext cx="521208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1D4ED8"/>
                </a:solidFill>
              </a:defRPr>
            </a:pPr>
            <a:r>
              <a:t>Bank Rec Agent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Fuzzy transaction string &amp; amount matcher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521208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1D4ED8"/>
                </a:solidFill>
              </a:defRPr>
            </a:pPr>
            <a:r>
              <a:t>Compliance Agent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Statutory filing calendar &amp; penalty risk auditor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389120"/>
            <a:ext cx="521208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1D4ED8"/>
                </a:solidFill>
              </a:defRPr>
            </a:pPr>
            <a:r>
              <a:t>Reporting Agent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Synthesizes certified P&amp;L and Balance Sheet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521208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1D4ED8"/>
                </a:solidFill>
              </a:defRPr>
            </a:pPr>
            <a:r>
              <a:t>Notification Agent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Real-time WebSocket alert event broadcaster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5394960"/>
            <a:ext cx="5212080" cy="86868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ctr">
              <a:defRPr sz="1400" b="1">
                <a:solidFill>
                  <a:srgbClr val="1D4ED8"/>
                </a:solidFill>
              </a:defRPr>
            </a:pPr>
            <a:r>
              <a:t>Analytics Agent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Business Health Index (92/100) &amp; cash runway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Inter"/>
              </a:defRPr>
            </a:pPr>
            <a:r>
              <a:t>WORKFLOW STEP-BY-STEP</a:t>
            </a:r>
          </a:p>
          <a:p>
            <a:pPr>
              <a:defRPr sz="2400" b="1">
                <a:solidFill>
                  <a:srgbClr val="0F172A"/>
                </a:solidFill>
                <a:latin typeface="Inter"/>
              </a:defRPr>
            </a:pPr>
            <a:r>
              <a:t>Golden Path: Invoice to Immutable Ledger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286000"/>
            <a:ext cx="20116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1. Ingestion</a:t>
            </a:r>
          </a:p>
          <a:p>
            <a:pPr>
              <a:spcBef>
                <a:spcPts val="1200"/>
              </a:spcBef>
              <a:defRPr sz="1200">
                <a:solidFill>
                  <a:srgbClr val="475569"/>
                </a:solidFill>
              </a:defRPr>
            </a:pPr>
            <a:r>
              <a:t>Upload PDF invoice / receipt stream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286000"/>
            <a:ext cx="20116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2. Vision OCR</a:t>
            </a:r>
          </a:p>
          <a:p>
            <a:pPr>
              <a:spcBef>
                <a:spcPts val="1200"/>
              </a:spcBef>
              <a:defRPr sz="1200">
                <a:solidFill>
                  <a:srgbClr val="475569"/>
                </a:solidFill>
              </a:defRPr>
            </a:pPr>
            <a:r>
              <a:t>Invoice Agent parses line items &amp; GSTIN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0" y="2286000"/>
            <a:ext cx="20116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3. Tax Audit</a:t>
            </a:r>
          </a:p>
          <a:p>
            <a:pPr>
              <a:spcBef>
                <a:spcPts val="1200"/>
              </a:spcBef>
              <a:defRPr sz="1200">
                <a:solidFill>
                  <a:srgbClr val="475569"/>
                </a:solidFill>
              </a:defRPr>
            </a:pPr>
            <a:r>
              <a:t>GST Agent verifies 18% IGST in GSTR-2B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199" y="2286000"/>
            <a:ext cx="2011680" cy="2560320"/>
          </a:xfrm>
          <a:prstGeom prst="roundRect">
            <a:avLst/>
          </a:prstGeom>
          <a:solidFill>
            <a:srgbClr val="EFF6FF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500" b="1">
                <a:solidFill>
                  <a:srgbClr val="1D4ED8"/>
                </a:solidFill>
              </a:defRPr>
            </a:pPr>
            <a:r>
              <a:t>4. Human Signoff</a:t>
            </a:r>
          </a:p>
          <a:p>
            <a:pPr>
              <a:spcBef>
                <a:spcPts val="1200"/>
              </a:spcBef>
              <a:defRPr sz="1200">
                <a:solidFill>
                  <a:srgbClr val="475569"/>
                </a:solidFill>
              </a:defRPr>
            </a:pPr>
            <a:r>
              <a:t>CA reviews split-screen journal proposal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09760" y="2286000"/>
            <a:ext cx="2011680" cy="2560320"/>
          </a:xfrm>
          <a:prstGeom prst="roundRect">
            <a:avLst/>
          </a:prstGeom>
          <a:solidFill>
            <a:srgbClr val="ECFDF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5. Immutable Post</a:t>
            </a:r>
          </a:p>
          <a:p>
            <a:pPr>
              <a:spcBef>
                <a:spcPts val="1200"/>
              </a:spcBef>
              <a:defRPr sz="1200">
                <a:solidFill>
                  <a:srgbClr val="475569"/>
                </a:solidFill>
              </a:defRPr>
            </a:pPr>
            <a:r>
              <a:t>Double-entry entry committed to ledger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Inter"/>
              </a:defRPr>
            </a:pPr>
            <a:r>
              <a:t>GST &amp; TDS COMPLIANCE</a:t>
            </a:r>
          </a:p>
          <a:p>
            <a:pPr>
              <a:defRPr sz="2400" b="1">
                <a:solidFill>
                  <a:srgbClr val="0F172A"/>
                </a:solidFill>
                <a:latin typeface="Inter"/>
              </a:defRPr>
            </a:pPr>
            <a:r>
              <a:t>Deep Indian Statutory Compliance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1D4ED8"/>
                </a:solidFill>
              </a:defRPr>
            </a:pPr>
            <a:r>
              <a:t>🧾 Goods &amp; Services Tax (GST)</a:t>
            </a:r>
          </a:p>
          <a:p>
            <a:pPr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• 15-Character GSTIN syntax regex validation.</a:t>
            </a:r>
          </a:p>
          <a:p>
            <a:pPr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• CGST + SGST (Intra-state) vs IGST (Inter-state) place of supply split.</a:t>
            </a:r>
          </a:p>
          <a:p>
            <a:pPr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• GSTR-1 Outward Summary &amp; GSTR-3B Return liability calculator.</a:t>
            </a:r>
          </a:p>
          <a:p>
            <a:pPr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• GSTR-2B Input Tax Credit (ITC) eligibility &amp; supplier filing auditor.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💰 Tax Deducted at Source (TDS)</a:t>
            </a:r>
          </a:p>
          <a:p>
            <a:pPr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• Section 194C (Contractors): 1% / 2% rate application.</a:t>
            </a:r>
          </a:p>
          <a:p>
            <a:pPr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• Section 194J (Professional &amp; Technical Fees): 10% rate application.</a:t>
            </a:r>
          </a:p>
          <a:p>
            <a:pPr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• Cumulative Vendor Limit Monitor: Alerts when annual payments cross statutory thresholds.</a:t>
            </a:r>
          </a:p>
          <a:p>
            <a:pPr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• Quarterly Challan Tracker: Automated Q1/Q2/Q3/Q4 deduction summary.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Inter"/>
              </a:defRPr>
            </a:pPr>
            <a:r>
              <a:t>FINANCIAL STATEMENTS</a:t>
            </a:r>
          </a:p>
          <a:p>
            <a:pPr>
              <a:defRPr sz="2400" b="1">
                <a:solidFill>
                  <a:srgbClr val="0F172A"/>
                </a:solidFill>
                <a:latin typeface="Inter"/>
              </a:defRPr>
            </a:pPr>
            <a:r>
              <a:t>Financial Control &amp; Certified Reporting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2194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1D4ED8"/>
                </a:solidFill>
              </a:defRPr>
            </a:pPr>
            <a:r>
              <a:t>⚖️ Dynamic Balance Sheet Verification</a:t>
            </a:r>
          </a:p>
          <a:p>
            <a:pPr>
              <a:spcBef>
                <a:spcPts val="800"/>
              </a:spcBef>
              <a:defRPr sz="1400">
                <a:solidFill>
                  <a:srgbClr val="0F172A"/>
                </a:solidFill>
              </a:defRPr>
            </a:pPr>
            <a:r>
              <a:t>Equality Check Formula: Total Assets (₹68.4L) = Total Liabilities (₹24.5L) + Total Equity (₹43.9L)</a:t>
            </a:r>
            <a:br/>
            <a:r>
              <a:t>Automatically verified on every ledger entry with green audit mark.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106984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📈 Executive Profit &amp; Loss Statement</a:t>
            </a:r>
          </a:p>
          <a:p>
            <a:pPr>
              <a:spcBef>
                <a:spcPts val="800"/>
              </a:spcBef>
              <a:defRPr sz="1400">
                <a:solidFill>
                  <a:srgbClr val="475569"/>
                </a:solidFill>
              </a:defRPr>
            </a:pPr>
            <a:r>
              <a:t>Revenue from Operations (YTD): ₹45,20,000 | Gross Profit: ₹27,00,000 | Operating Expenses: ₹8,50,000</a:t>
            </a:r>
            <a:br/>
            <a:r>
              <a:t>Net Income After Tax: ₹15,17,000 (Synthesized directly from immutable ledgers).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Inter"/>
              </a:defRPr>
            </a:pPr>
            <a:r>
              <a:t>DEVELOPER PRODUCTIVITY</a:t>
            </a:r>
          </a:p>
          <a:p>
            <a:pPr>
              <a:defRPr sz="2400" b="1">
                <a:solidFill>
                  <a:srgbClr val="0F172A"/>
                </a:solidFill>
                <a:latin typeface="Inter"/>
              </a:defRPr>
            </a:pPr>
            <a:r>
              <a:t>OpenAI Codex Integration &amp; Custom Tools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1D4ED8"/>
                </a:solidFill>
              </a:defRPr>
            </a:pPr>
            <a:r>
              <a:t>🛠️ Codex Code Manipulation &amp; Search Suite (tools/)</a:t>
            </a:r>
          </a:p>
          <a:p>
            <a:pPr>
              <a:spcBef>
                <a:spcPts val="1400"/>
              </a:spcBef>
              <a:defRPr sz="1400">
                <a:solidFill>
                  <a:srgbClr val="0F172A"/>
                </a:solidFill>
              </a:defRPr>
            </a:pPr>
            <a:r>
              <a:t>• codex_tools.py SDK: High-performance functions for searching, replacing text, inserting lines, and parsing file outlines.</a:t>
            </a:r>
          </a:p>
          <a:p>
            <a:pPr>
              <a:spcBef>
                <a:spcPts val="1400"/>
              </a:spcBef>
              <a:defRPr sz="1400">
                <a:solidFill>
                  <a:srgbClr val="0F172A"/>
                </a:solidFill>
              </a:defRPr>
            </a:pPr>
            <a:r>
              <a:t>• cli.py Wrapper: CLI utilities for automated agent code editing (python tools/cli.py find|replace|add-line|outline).</a:t>
            </a:r>
          </a:p>
          <a:p>
            <a:pPr>
              <a:spcBef>
                <a:spcPts val="1400"/>
              </a:spcBef>
              <a:defRPr sz="1400">
                <a:solidFill>
                  <a:srgbClr val="0F172A"/>
                </a:solidFill>
              </a:defRPr>
            </a:pPr>
            <a:r>
              <a:t>• 100% Test Coverage: 6 passing automated unit tests in test_codex_tools.py.</a:t>
            </a:r>
          </a:p>
          <a:p>
            <a:pPr>
              <a:spcBef>
                <a:spcPts val="1400"/>
              </a:spcBef>
              <a:defRPr sz="1400">
                <a:solidFill>
                  <a:srgbClr val="0F172A"/>
                </a:solidFill>
              </a:defRPr>
            </a:pPr>
            <a:r>
              <a:t>• Agentic Self-Healing: Allows agents to safely inspect AST symbols and update configuration files.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Inter"/>
              </a:defRPr>
            </a:pPr>
            <a:r>
              <a:t>FUTURE MILESTONES</a:t>
            </a:r>
          </a:p>
          <a:p>
            <a:pPr>
              <a:defRPr sz="2400" b="1">
                <a:solidFill>
                  <a:srgbClr val="0F172A"/>
                </a:solidFill>
                <a:latin typeface="Inter"/>
              </a:defRPr>
            </a:pPr>
            <a:r>
              <a:t>Product Roadmap &amp; Enterprise Scale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Phase 1: Hackathon MVP (Completed)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10 AI Agents, Double-Entry Engine, GST/TDS calculation, Light Grey &amp; Trust Blue UX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1D4ED8"/>
                </a:solidFill>
              </a:defRPr>
            </a:pPr>
            <a:r>
              <a:t>Phase 2: Post-Hackathon (Q3 2026)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Direct GST Portal Sandbox APIs, Account Aggregator live bank feeds, Automated Inventory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0"/>
            <a:ext cx="106984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Phase 3: Enterprise Scale (Q4 2026 - Q1 2027)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</a:defRPr>
            </a:pPr>
            <a:r>
              <a:t>Custom ICAI LLM fine-tuning, CA Multi-Firm Client Portal, Predictive Working Capital Credit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Inter"/>
              </a:defRPr>
            </a:pPr>
            <a:r>
              <a:t>VYAPAR MANDAP</a:t>
            </a:r>
          </a:p>
          <a:p>
            <a:pPr>
              <a:spcBef>
                <a:spcPts val="1400"/>
              </a:spcBef>
              <a:defRPr sz="2200">
                <a:solidFill>
                  <a:srgbClr val="BFDBFE"/>
                </a:solidFill>
                <a:latin typeface="Inter"/>
              </a:defRPr>
            </a:pPr>
            <a:r>
              <a:t>Experience the Future of Multi-Agent AI Double-Entry Accounting</a:t>
            </a:r>
          </a:p>
          <a:p>
            <a:pPr>
              <a:spcBef>
                <a:spcPts val="2800"/>
              </a:spcBef>
              <a:defRPr sz="1500">
                <a:solidFill>
                  <a:srgbClr val="E2E8F0"/>
                </a:solidFill>
                <a:latin typeface="Inter"/>
              </a:defRPr>
            </a:pPr>
            <a:r>
              <a:t>GitHub Repository: https://github.com/Abhitech-st/Vyapar-Mandap.git</a:t>
            </a:r>
            <a:br/>
            <a:r>
              <a:t>Web Dashboard: http://localhost:3000 | FastAPI API: http://127.0.0.1:8000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