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Inter"/>
              </a:defRPr>
            </a:pPr>
            <a:r>
              <a:t>VYAPAR MANDAP</a:t>
            </a:r>
          </a:p>
          <a:p>
            <a:pPr>
              <a:spcBef>
                <a:spcPts val="800"/>
              </a:spcBef>
              <a:defRPr sz="1800" b="1">
                <a:solidFill>
                  <a:srgbClr val="4338CA"/>
                </a:solidFill>
                <a:latin typeface="Inter"/>
              </a:defRPr>
            </a:pPr>
            <a:r>
              <a:t>Modern Multi-Agent Double-Entry Accounting Platform</a:t>
            </a:r>
          </a:p>
          <a:p>
            <a:pPr>
              <a:spcBef>
                <a:spcPts val="1200"/>
              </a:spcBef>
              <a:defRPr sz="1300">
                <a:solidFill>
                  <a:srgbClr val="64748B"/>
                </a:solidFill>
                <a:latin typeface="Inter"/>
              </a:defRPr>
            </a:pPr>
            <a:r>
              <a:t>Powered by Google Gemini 2.5 Flash Vision OCR, deterministic ledger engine, and real-time GST/TDS compliance tracking.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120640"/>
            <a:ext cx="2743200" cy="5943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Explore Live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86016" y="1408176"/>
            <a:ext cx="4480560" cy="137160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49440" y="1371600"/>
            <a:ext cx="4480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1371600"/>
            <a:ext cx="50800" cy="1371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50876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Inter"/>
              </a:defRPr>
            </a:pPr>
            <a:r>
              <a:t>10 AI Agents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Decoupled execution graph for invoice, ledger &amp; tax audits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86016" y="1408177"/>
            <a:ext cx="4480560" cy="137160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9440" y="1371601"/>
            <a:ext cx="4480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0" y="1371601"/>
            <a:ext cx="50800" cy="1371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508761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Inter"/>
              </a:defRPr>
            </a:pPr>
            <a:r>
              <a:t>22 ORM Models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Immutable double-entry schema with complete audit 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86016" y="1408179"/>
            <a:ext cx="4480560" cy="137160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1371603"/>
            <a:ext cx="4480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1371603"/>
            <a:ext cx="50800" cy="1371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508763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Inter"/>
              </a:defRPr>
            </a:pPr>
            <a:r>
              <a:t>Google Gemini 2.5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Vision OCR extraction &amp; RAG financial query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0725912" cy="25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Inter"/>
              </a:defRPr>
            </a:pPr>
            <a:r>
              <a:t>The Problem: Broken Manual Bookkeeping &amp; Statutory Risk</a:t>
            </a:r>
          </a:p>
          <a:p>
            <a:pPr>
              <a:defRPr sz="1300">
                <a:solidFill>
                  <a:srgbClr val="64748B"/>
                </a:solidFill>
                <a:latin typeface="Inter"/>
              </a:defRPr>
            </a:pPr>
            <a:r>
              <a:t>Operational inefficiencies faced by 63+ Million MSMEs in India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5912" cy="6858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Inter"/>
              </a:defRPr>
            </a:pPr>
            <a:r>
              <a:t>[!] Critical Industry Warning: Manual invoice entry, un-tracked vendor TDS limits, and GSTR-2B discrepancies cause millions in lost tax credit and statutory audit notices.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2368296"/>
            <a:ext cx="10725912" cy="123444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72591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50800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241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Inter"/>
              </a:defRPr>
            </a:pPr>
            <a:r>
              <a:t>100+ Hours Wasted Monthly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Accountants manually transcribe PDF bills and paper receipts line-by-line across disconnected spreadsheets, causing high human error rates.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2368297"/>
            <a:ext cx="10725912" cy="123444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331721"/>
            <a:ext cx="1072591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331721"/>
            <a:ext cx="50800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468881"/>
            <a:ext cx="10241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Inter"/>
              </a:defRPr>
            </a:pPr>
            <a:r>
              <a:t>GSTR-2B ITC Loss &amp; Interest Fines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Discrepancies between supplier filings and internal accounts result in 18% lost Input Tax Credit (ITC) and statutory interest penalties.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2368299"/>
            <a:ext cx="10725912" cy="123444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2331723"/>
            <a:ext cx="1072591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331723"/>
            <a:ext cx="50800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468883"/>
            <a:ext cx="10241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Inter"/>
              </a:defRPr>
            </a:pPr>
            <a:r>
              <a:t>Complex TDS Limits &amp; Naive AI Risk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Section 194C (1%/2%) &amp; Section 194J (10%) limits are missed across vendors. Standard LLMs hallucinate numbers and break debit=credit balance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0725912" cy="25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Inter"/>
              </a:defRPr>
            </a:pPr>
            <a:r>
              <a:t>The Solution: Four Pillars of Accounting Integrity</a:t>
            </a:r>
          </a:p>
          <a:p>
            <a:pPr>
              <a:defRPr sz="1300">
                <a:solidFill>
                  <a:srgbClr val="64748B"/>
                </a:solidFill>
                <a:latin typeface="Inter"/>
              </a:defRPr>
            </a:pPr>
            <a:r>
              <a:t>Decoupled architecture bridging unstructured inputs with deterministic accounting cores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" y="1499616"/>
            <a:ext cx="5212080" cy="233172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00200"/>
            <a:ext cx="4663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1. Vision OCR &amp; Gemini 2.5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100" b="1">
                <a:solidFill>
                  <a:srgbClr val="4338CA"/>
                </a:solidFill>
                <a:latin typeface="Inter"/>
              </a:defRPr>
            </a:pPr>
            <a:r>
              <a:t>98%+ Accurate Invoice Extraction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Google Gemini 2.5 Flash Vision engine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SHA256 disk caching (0ms repeat latency)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Auto-flags low-confidence (&lt;85%)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102" y="1499616"/>
            <a:ext cx="5212080" cy="233172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6" y="1463040"/>
            <a:ext cx="52120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6" y="1463040"/>
            <a:ext cx="521208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6" y="1600200"/>
            <a:ext cx="4663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2. Double-Entry Core Engine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100" b="1">
                <a:solidFill>
                  <a:srgbClr val="4338CA"/>
                </a:solidFill>
                <a:latin typeface="Inter"/>
              </a:defRPr>
            </a:pPr>
            <a:r>
              <a:t>Strict Debit = Credit Enforcement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Strict mathematical balance verification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Zero balance violation guarantee ($Dr = Cr$)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Cryptographic immutable transaction logs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1499618"/>
            <a:ext cx="5212080" cy="233172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463042"/>
            <a:ext cx="52120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1463042"/>
            <a:ext cx="521208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1600202"/>
            <a:ext cx="4663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3. Human-in-the-Loop Signoff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100" b="1">
                <a:solidFill>
                  <a:srgbClr val="4338CA"/>
                </a:solidFill>
                <a:latin typeface="Inter"/>
              </a:defRPr>
            </a:pPr>
            <a:r>
              <a:t>CA Verified Ledger Approvals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Split-screen PDF viewer + proposed journal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1-click approval or rejection comments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Audit trail logs every reviewer 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102" y="1499618"/>
            <a:ext cx="5212080" cy="233172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6" y="1463042"/>
            <a:ext cx="52120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6" y="1463042"/>
            <a:ext cx="521208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6" y="1600202"/>
            <a:ext cx="4663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4. Statutory GST &amp; TDS Engine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100" b="1">
                <a:solidFill>
                  <a:srgbClr val="4338CA"/>
                </a:solidFill>
                <a:latin typeface="Inter"/>
              </a:defRPr>
            </a:pPr>
            <a:r>
              <a:t>Automated Compliance &amp; Audit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Real-time 15-char GSTIN syntax check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GSTR-1, GSTR-3B &amp; GSTR-2B ITC matching</a:t>
            </a:r>
          </a:p>
          <a:p>
            <a:pPr>
              <a:defRPr sz="1000">
                <a:solidFill>
                  <a:srgbClr val="64748B"/>
                </a:solidFill>
                <a:latin typeface="Inter"/>
              </a:defRPr>
            </a:pPr>
            <a:r>
              <a:t>• Section 194C (1%/2%) &amp; 194J (10%) TDS tracker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0725912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Inter"/>
              </a:defRPr>
            </a:pPr>
            <a:r>
              <a:t>The Golden Path Workflow</a:t>
            </a:r>
          </a:p>
          <a:p>
            <a:pPr>
              <a:defRPr sz="1300">
                <a:solidFill>
                  <a:srgbClr val="64748B"/>
                </a:solidFill>
                <a:latin typeface="Inter"/>
              </a:defRPr>
            </a:pPr>
            <a:r>
              <a:t>End-to-End PDF Document Ingestion to Immutable Ledger Commit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" y="1499616"/>
            <a:ext cx="2514600" cy="493776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14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40" y="1645920"/>
            <a:ext cx="594360" cy="59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164592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2148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Step 1: Upload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1100" b="1">
                <a:solidFill>
                  <a:srgbClr val="10B981"/>
                </a:solidFill>
                <a:latin typeface="Inter"/>
              </a:defRPr>
            </a:pPr>
            <a:r>
              <a:t>Ingest PDF / Image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User drops PDF bill or receipt image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Generates unique SHA256 hash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Prevents duplicate invoice ingestion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8" y="1499616"/>
            <a:ext cx="2514600" cy="493776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2" y="1463040"/>
            <a:ext cx="2514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1642" y="1645920"/>
            <a:ext cx="594360" cy="59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2" y="164592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2" y="2331720"/>
            <a:ext cx="2148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Step 2: AI Parse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1100" b="1">
                <a:solidFill>
                  <a:srgbClr val="10B981"/>
                </a:solidFill>
                <a:latin typeface="Inter"/>
              </a:defRPr>
            </a:pPr>
            <a:r>
              <a:t>Extract &amp; Audit Tax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Gemini 2.5 Flash extracts fields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GST Agent validates 15-char GSTIN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Verifies GSTR-2B ITC eligibility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101" y="1499616"/>
            <a:ext cx="2514600" cy="493776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5" y="1463040"/>
            <a:ext cx="2514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691645" y="1645920"/>
            <a:ext cx="594360" cy="59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1645" y="164592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5" y="2331720"/>
            <a:ext cx="2148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Step 3: Human Review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1100" b="1">
                <a:solidFill>
                  <a:srgbClr val="10B981"/>
                </a:solidFill>
                <a:latin typeface="Inter"/>
              </a:defRPr>
            </a:pPr>
            <a:r>
              <a:t>CA Signoff Checkpoint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Split-screen PDF viewer + journal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Validates $Dr. Exp + Dr. Tax = Cr. AP$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1-click approve or reject with comments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104" y="1499616"/>
            <a:ext cx="2514600" cy="493776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8" y="1463040"/>
            <a:ext cx="2514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91648" y="1645920"/>
            <a:ext cx="594360" cy="59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8" y="164592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8" y="2331720"/>
            <a:ext cx="2148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Step 4: Commit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1100" b="1">
                <a:solidFill>
                  <a:srgbClr val="10B981"/>
                </a:solidFill>
                <a:latin typeface="Inter"/>
              </a:defRPr>
            </a:pPr>
            <a:r>
              <a:t>Immutable Ledger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Double-entry posted to database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Journal marked immutable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• P&amp;L and Balance Sheet update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0725912" cy="25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Inter"/>
              </a:defRPr>
            </a:pPr>
            <a:r>
              <a:t>Production-Grade System Architecture</a:t>
            </a:r>
          </a:p>
          <a:p>
            <a:pPr>
              <a:defRPr sz="1300">
                <a:solidFill>
                  <a:srgbClr val="64748B"/>
                </a:solidFill>
                <a:latin typeface="Inter"/>
              </a:defRPr>
            </a:pPr>
            <a:r>
              <a:t>Decoupled full-stack SaaS platform built with FastAPI, React 18 &amp; Google Gemini 2.5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" y="1453896"/>
            <a:ext cx="10725912" cy="1115568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5912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800" cy="1115568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2704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Client Tier (React 18 + Vite + Tailwind CSS)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Light Grey &amp; Trust Blue Theme (#2563EB) • Interactive AppContext global state • Command Palette (Cmd+K) &amp; PDF Canvas Viewer • Real-time Agent Event Ticker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453897"/>
            <a:ext cx="10725912" cy="1115568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417321"/>
            <a:ext cx="10725912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417321"/>
            <a:ext cx="50800" cy="1115568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9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FastAPI Core Cluster (Python 3.11+)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Asynchronous REST API endpoints (/api/v1/invoices, /journals, /gst, /reports) • Real-time WebSockets streaming server (/ws/ai/stream) • Pydantic v2 data validation schemas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1453898"/>
            <a:ext cx="10725912" cy="1115568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417322"/>
            <a:ext cx="10725912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1417322"/>
            <a:ext cx="50800" cy="1115568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152705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AI &amp; LLM Services (Google Gemini 2.5 Flash)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Google Gemini 2.5 Flash SDK (google.genai) • Vision OCR invoice field extraction • Prompt caching &amp; SHA256 disk cache (0ms repeat responses)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453900"/>
            <a:ext cx="10725912" cy="1115568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1417324"/>
            <a:ext cx="10725912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1417324"/>
            <a:ext cx="50800" cy="1115568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52705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Data &amp; Storage Engine (22 Relational Models)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PostgreSQL 16 / SQLite 3 Relational Engine (22 SQLAlchemy ORM models) • Redis task queue &amp; S3 document storage • Immutable audit log 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0725912" cy="25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Inter"/>
              </a:defRPr>
            </a:pPr>
            <a:r>
              <a:t>The 10 Specialized AI Agents Roster</a:t>
            </a:r>
          </a:p>
          <a:p>
            <a:pPr>
              <a:defRPr sz="1300">
                <a:solidFill>
                  <a:srgbClr val="64748B"/>
                </a:solidFill>
                <a:latin typeface="Inter"/>
              </a:defRPr>
            </a:pPr>
            <a:r>
              <a:t>Decoupled execution graph with focused context scoping and zero token bloat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" y="1499616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00200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Supervisor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Orchestrates execution graph &amp; human approval checkpoints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8" y="1499616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2" y="1463040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2" y="1463040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50" y="1600200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Invoice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Vision OCR extraction &amp; HSN/SAC code classification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100" y="1499616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4" y="1463040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4" y="1463040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52" y="1600200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Ledger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Immutable double-entry debit equal credit equality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103" y="1499616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7" y="1463040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7" y="1463040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55" y="1600200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GST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Validates 15-char GSTINs &amp; GSTR-2B ITC eligibility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105" y="1499616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9" y="1463040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9" y="1463040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57" y="1600200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TDS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Section 194C/194J cumulative vendor limit calculator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" y="1499618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1463042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1463042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1600202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Bank Rec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Fuzzy string &amp; amount similarity matching engine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8" y="1499618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2" y="1463042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2" y="1463042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50" y="1600202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Compliance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Statutory filing calendar &amp; penalty risk score auditor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100" y="1499618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4" y="1463042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4" y="1463042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52" y="1600202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Reporting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Synthesizes certified P&amp;L and Balance Sheet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103" y="1499618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31527" y="1463042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7" y="1463042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55" y="1600202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Notification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Real-time WebSocket event stream broadcaster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105" y="1499618"/>
            <a:ext cx="2057400" cy="224028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9" y="1463042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9" y="1463042"/>
            <a:ext cx="2057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57" y="1600202"/>
            <a:ext cx="1828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Inter"/>
              </a:defRPr>
            </a:pPr>
            <a:r>
              <a:t>Analytics Agent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  <a:latin typeface="Inter"/>
              </a:defRPr>
            </a:pPr>
            <a:r>
              <a:t>Calculates 92/100 Health Score &amp; cash runway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0725912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Inter"/>
              </a:defRPr>
            </a:pPr>
            <a:r>
              <a:t>Strategic Product Roadmap</a:t>
            </a:r>
          </a:p>
          <a:p>
            <a:pPr>
              <a:defRPr sz="1300">
                <a:solidFill>
                  <a:srgbClr val="64748B"/>
                </a:solidFill>
                <a:latin typeface="Inter"/>
              </a:defRPr>
            </a:pPr>
            <a:r>
              <a:t>Phased deployment plan for enterprise scaling across Chartered Accountancies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" y="1499616"/>
            <a:ext cx="3474720" cy="493776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691640"/>
            <a:ext cx="1371600" cy="32004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COMPLETED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Phase 1: MVP (Completed)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• 10 Specialized AI Agents operational</a:t>
            </a:r>
            <a:br/>
            <a:r>
              <a:t>• Immutable double-entry ledger core</a:t>
            </a:r>
            <a:br/>
            <a:r>
              <a:t>• GST &amp; TDS compliance engine</a:t>
            </a:r>
            <a:br/>
            <a:r>
              <a:t>• Light Grey &amp; Trust Blue UX</a:t>
            </a:r>
            <a:br/>
            <a:r>
              <a:t>• Google Gemini 2.5 Flash + SHA256 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9" y="1499616"/>
            <a:ext cx="3474720" cy="493776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3" y="1463040"/>
            <a:ext cx="34747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3" y="1691640"/>
            <a:ext cx="1371600" cy="320040"/>
          </a:xfrm>
          <a:prstGeom prst="roundRect">
            <a:avLst/>
          </a:prstGeom>
          <a:solidFill>
            <a:srgbClr val="EFF6FF"/>
          </a:solidFill>
          <a:ln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338CA"/>
                </a:solidFill>
              </a:defRPr>
            </a:pPr>
            <a:r>
              <a:t>IN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3" y="21488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Phase 2: Q3 2026 (In Progress)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• Direct GSTN Portal Sandbox APIs</a:t>
            </a:r>
            <a:br/>
            <a:r>
              <a:t>• Account Aggregator live bank feeds</a:t>
            </a:r>
            <a:br/>
            <a:r>
              <a:t>• Automated inventory batch valuation</a:t>
            </a:r>
            <a:br/>
            <a:r>
              <a:t>• E-way bill generation pipeline</a:t>
            </a:r>
            <a:br/>
            <a:r>
              <a:t>• Multi-user permission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103" y="1499616"/>
            <a:ext cx="3474720" cy="4937760"/>
          </a:xfrm>
          <a:prstGeom prst="roundRect">
            <a:avLst/>
          </a:prstGeom>
          <a:solidFill>
            <a:srgbClr val="EB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7" y="1463040"/>
            <a:ext cx="34747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27" y="1691640"/>
            <a:ext cx="1371600" cy="320040"/>
          </a:xfrm>
          <a:prstGeom prst="roundRect">
            <a:avLst/>
          </a:prstGeom>
          <a:solidFill>
            <a:srgbClr val="F8FAFC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</a:defRPr>
            </a:pPr>
            <a:r>
              <a:t>PLANNED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7" y="21488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t>Phase 3: 2027 (Planned)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Inter"/>
              </a:defRPr>
            </a:pPr>
            <a:r>
              <a:t>• ICAI fine-tuned accounting LLM</a:t>
            </a:r>
            <a:br/>
            <a:r>
              <a:t>• CA Multi-Firm Client Portal</a:t>
            </a:r>
            <a:br/>
            <a:r>
              <a:t>• Predictive working capital scoring</a:t>
            </a:r>
            <a:br/>
            <a:r>
              <a:t>• Automated vendor payouts via UPI/NEFT</a:t>
            </a:r>
            <a:br/>
            <a:r>
              <a:t>• Enterprise API Marketplace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57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Ready to Transform Your Indian Business Accounting?</a:t>
            </a:r>
          </a:p>
          <a:p>
            <a:pPr algn="ctr">
              <a:spcBef>
                <a:spcPts val="1600"/>
              </a:spcBef>
              <a:defRPr sz="1800">
                <a:solidFill>
                  <a:srgbClr val="BFDBFE"/>
                </a:solidFill>
                <a:latin typeface="Inter"/>
              </a:defRPr>
            </a:pPr>
            <a:r>
              <a:t>Automate PDF invoice OCR, double-entry ledger posting, and statutory GST &amp; TDS compliance.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1104" y="4754880"/>
            <a:ext cx="3657600" cy="68580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61104" y="475488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Explore Vyapar Mandap Live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