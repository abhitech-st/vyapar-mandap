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Inter"/>
              </a:defRPr>
            </a:pPr>
            <a:r>
              <a:t>VYAPAR MANDAP</a:t>
            </a:r>
          </a:p>
          <a:p>
            <a:pPr>
              <a:spcBef>
                <a:spcPts val="800"/>
              </a:spcBef>
              <a:defRPr sz="1800" b="1">
                <a:solidFill>
                  <a:srgbClr val="4338CA"/>
                </a:solidFill>
                <a:latin typeface="Inter"/>
              </a:defRPr>
            </a:pPr>
            <a:r>
              <a:t>Built Using Codex AI Engine Architecture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Inter"/>
              </a:defRPr>
            </a:pPr>
            <a:r>
              <a:t>Engineered with OpenAI Codex intelligence, coupling vision OCR parsing with a deterministic double-entry ledger core (Debits = Credits) and 1-click CA human approvals.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20640"/>
            <a:ext cx="2743200" cy="5943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Explore Live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6016" y="1408176"/>
            <a:ext cx="4480560" cy="137160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0" y="1371600"/>
            <a:ext cx="4480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371600"/>
            <a:ext cx="50800" cy="1371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5087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t>Codex AI Engine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Advanced code-grade intelligence for Vision OCR invoice parsing &amp; rule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6016" y="1408177"/>
            <a:ext cx="4480560" cy="137160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0" y="1371601"/>
            <a:ext cx="4480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1371601"/>
            <a:ext cx="50800" cy="1371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508761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t>Double-Entry Core Engine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Mathematical equality enforcement ensuring $Total\ Debits = Total\ Credits$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6016" y="1408179"/>
            <a:ext cx="4480560" cy="137160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1371603"/>
            <a:ext cx="4480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371603"/>
            <a:ext cx="50800" cy="13716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508763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t>Hybrid Cloud Infrastructure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Supabase Central DB + Client Device Storage + Vercel &amp;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725912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The Current Problem: Manual Accounting &amp; Tax Risks</a:t>
            </a:r>
          </a:p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Operational bottlenecks faced by 63+ Million MSMEs in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6858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Inter"/>
              </a:defRPr>
            </a:pPr>
            <a:r>
              <a:t>[!] Critical Pain Point: Manual invoice entry, un-tracked vendor TDS limits, and GSTR-2B discrepancies cause millions in lost tax credit and statutory interest notices.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368296"/>
            <a:ext cx="10725912" cy="123444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72591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50800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t>100+ Hours Lost to Manual Data Entry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Accountants manually transcribe PDF bills, physical receipts, and paper vouchers line-by-line across disconnected spreadsheets, causing high human error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2368297"/>
            <a:ext cx="10725912" cy="123444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1"/>
            <a:ext cx="1072591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31721"/>
            <a:ext cx="50800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1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t>18% GSTR-2B Input Tax Credit (ITC) Loss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Discrepancies between supplier portal filings and internal ledger accounts result in lost Input Tax Credit (ITC) and costly statutory audit interest penalties.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368299"/>
            <a:ext cx="10725912" cy="123444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331723"/>
            <a:ext cx="1072591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331723"/>
            <a:ext cx="50800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68883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t>Complex Section 194C/194J TDS Thresholds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Cumulative vendor payment thresholds (Section 194C 1%/2% &amp; Section 194J 10%) are missed across suppliers. Naive LLMs hallucinate numbers and break debit=credit equality.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725912" cy="254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Our Approach: Four Pillars of Accounting Integrity</a:t>
            </a:r>
          </a:p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Bridging unstructured document inputs with deterministic accounting engines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99616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12080" cy="508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1. Vision OCR &amp; Codex Engine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4338CA"/>
                </a:solidFill>
                <a:latin typeface="Inter"/>
              </a:defRPr>
            </a:pPr>
            <a:r>
              <a:t>98%+ Accurate Invoice Extraction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Codex AI vision parsing architecture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SHA256 document hashing (0ms repeat latency)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Auto-flags low-confidence (&lt;85%) field extractions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102" y="1499616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6" y="14630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6" y="1463040"/>
            <a:ext cx="5212080" cy="508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6" y="160020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2. Double-Entry Core Engine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4338CA"/>
                </a:solidFill>
                <a:latin typeface="Inter"/>
              </a:defRPr>
            </a:pPr>
            <a:r>
              <a:t>Strict Debit = Credit Enforcement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Strict mathematical balance verification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Zero balance violation guarantee ($Dr = Cr$)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Cryptographic immutable transaction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1499618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2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463042"/>
            <a:ext cx="5212080" cy="508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600202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3. Human-in-the-Loop Signoff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4338CA"/>
                </a:solidFill>
                <a:latin typeface="Inter"/>
              </a:defRPr>
            </a:pPr>
            <a:r>
              <a:t>CA Verified Ledger Approvals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Split-screen PDF viewer + proposed journal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1-click approval or rejection comments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Complete audit trail logs every reviewer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102" y="1499618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6" y="1463042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6" y="1463042"/>
            <a:ext cx="5212080" cy="508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6" y="1600202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4. Statutory GST &amp; TDS Engine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1">
                <a:solidFill>
                  <a:srgbClr val="4338CA"/>
                </a:solidFill>
                <a:latin typeface="Inter"/>
              </a:defRPr>
            </a:pPr>
            <a:r>
              <a:t>Automated Compliance &amp; Audit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Real-time 15-char GSTIN syntax check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GSTR-1, GSTR-3B &amp; GSTR-2B ITC matching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• Section 194C (1%/2%) &amp; 194J (10%) TDS tracker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725912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AI Integration &amp; Codex Task Engine</a:t>
            </a:r>
          </a:p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Combining OpenAI Codex Architecture with 1-Tap Financial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99616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800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t>Codex AI Vision OCR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Ingests PDF invoices, receipts, and image bills, extracting vendor name, GSTIN, line-item tax split, and grand totals with 99%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102" y="1499616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6" y="14630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6" y="1463040"/>
            <a:ext cx="50800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6" y="164592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t>Pre-Coded AI Task Shortcuts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1-tap task triggers: Audit GSTR-2B ITC, Check Trial Balance Equality, Calculate Section 194C/194J Limits, Reconcile Bank Feed, P&amp;L Highlights.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1499618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463042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463042"/>
            <a:ext cx="50800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645922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t>Automated Compliance Rules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Executes 15-char GSTIN syntax verification, duplicate SHA256 document detection, and double-entry mathematical constraint checks.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102" y="1499618"/>
            <a:ext cx="5212080" cy="233172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6" y="1463042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6" y="1463042"/>
            <a:ext cx="50800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6" y="1645922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t>Natural Language Financial Query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Interactive AI Copilot allowing Chartered Accountants to query cash runway, un-posted vouchers, and tax return filing deadlines.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725912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The Golden Path Workflow</a:t>
            </a:r>
          </a:p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End-to-End Ingestion, AI Parsing, CA Signoff &amp; Immutable Ledger 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99616"/>
            <a:ext cx="2514600" cy="493776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16459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64592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Step 1: Upload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10B981"/>
                </a:solidFill>
                <a:latin typeface="Inter"/>
              </a:defRPr>
            </a:pPr>
            <a:r>
              <a:t>Ingest PDF / Image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User drops PDF bill or receipt image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Generates unique SHA256 hash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Prevents duplicate invoice ingestion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8" y="1499616"/>
            <a:ext cx="2514600" cy="493776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2" y="1463040"/>
            <a:ext cx="2514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2" y="16459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2" y="164592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2" y="23317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Step 2: AI Parse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10B981"/>
                </a:solidFill>
                <a:latin typeface="Inter"/>
              </a:defRPr>
            </a:pPr>
            <a:r>
              <a:t>Extract &amp; Audit Tax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Codex AI engine extracts fields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GST engine validates 15-char GSTIN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Verifies GSTR-2B ITC eligibility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101" y="1499616"/>
            <a:ext cx="2514600" cy="493776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5" y="1463040"/>
            <a:ext cx="2514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91645" y="16459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5" y="164592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5" y="23317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Step 3: Human Review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10B981"/>
                </a:solidFill>
                <a:latin typeface="Inter"/>
              </a:defRPr>
            </a:pPr>
            <a:r>
              <a:t>CA Signoff Checkpoint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Split-screen PDF viewer + journal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Validates $Dr. Exp + Dr. Tax = Cr. AP$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1-click approve or reject with comments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104" y="1499616"/>
            <a:ext cx="2514600" cy="493776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8" y="1463040"/>
            <a:ext cx="25146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91648" y="16459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8" y="1645920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8" y="233172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Step 4: Commit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 b="1">
                <a:solidFill>
                  <a:srgbClr val="10B981"/>
                </a:solidFill>
                <a:latin typeface="Inter"/>
              </a:defRPr>
            </a:pPr>
            <a:r>
              <a:t>Immutable Ledger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Double-entry posted to database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Journal marked immutable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Inter"/>
              </a:defRPr>
            </a:pPr>
            <a:r>
              <a:t>• P&amp;L and Balance Sheet update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725912" cy="254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Production Infrastructure &amp; Hybrid Storage</a:t>
            </a:r>
          </a:p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Full-Stack Cloud Architecture (Vercel + Render + Supabase)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53896"/>
            <a:ext cx="10725912" cy="1115568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591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800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Vercel Frontend CDN (React 18 + Vite)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Global CDN static hosting with Mobile Navigation Drawer, responsive table-to-card transformations, and Command Palette (Cmd+K).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453897"/>
            <a:ext cx="10725912" cy="1115568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1"/>
            <a:ext cx="1072591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17321"/>
            <a:ext cx="50800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52704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Render FastAPI Backend (Python 3.11)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Asynchronous Python 3.11 ASGI service executing Codex AI Vision OCR, fuzzy bank matching, and Pydantic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1453898"/>
            <a:ext cx="10725912" cy="1115568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417322"/>
            <a:ext cx="1072591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417322"/>
            <a:ext cx="50800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52705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Supabase Cloud Database (PostgreSQL)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Central cloud database storing registered User Profiles (`profiles`) and Firm Entity Masters (`organizations`) with Row-Level Security.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1453900"/>
            <a:ext cx="10725912" cy="1115568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1417324"/>
            <a:ext cx="1072591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1417324"/>
            <a:ext cx="50800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152705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Client Device Local Storage (localStorage)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Stores active workspace session state, draft invoice uploads, and UI filters for instant 0ms page loads and offline resilience.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70432"/>
            <a:ext cx="10725912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Inter"/>
              </a:defRPr>
            </a:pPr>
            <a:r>
              <a:t>Strategic Roadmap &amp; Growth Vision</a:t>
            </a:r>
          </a:p>
          <a:p>
            <a:pPr>
              <a:defRPr sz="1300">
                <a:solidFill>
                  <a:srgbClr val="64748B"/>
                </a:solidFill>
                <a:latin typeface="Inter"/>
              </a:defRPr>
            </a:pPr>
            <a:r>
              <a:t>Phased expansion from MVP to Enterprise Chartered Accountancy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99616"/>
            <a:ext cx="3474720" cy="493776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91640"/>
            <a:ext cx="1371600" cy="32004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Phase 1: MVP (Completed)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• Hybrid Storage Engine (Supabase + Local)</a:t>
            </a:r>
            <a:br/>
            <a:r>
              <a:t>• Double-entry ledger core engine</a:t>
            </a:r>
            <a:br/>
            <a:r>
              <a:t>• Statutory GST &amp; TDS compliance</a:t>
            </a:r>
            <a:br/>
            <a:r>
              <a:t>• OpenAI Codex AI Architecture</a:t>
            </a:r>
            <a:br/>
            <a:r>
              <a:t>• 1-Tap Pre-Coded AI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9" y="1499616"/>
            <a:ext cx="3474720" cy="493776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3" y="14630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3" y="1691640"/>
            <a:ext cx="137160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338CA"/>
                </a:solidFill>
              </a:defRPr>
            </a:pPr>
            <a: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3" y="21488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Phase 2: Q3 2026 (In Progress)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• Direct GSTN Portal Sandbox APIs</a:t>
            </a:r>
            <a:br/>
            <a:r>
              <a:t>• Account Aggregator live bank feeds</a:t>
            </a:r>
            <a:br/>
            <a:r>
              <a:t>• Automated inventory batch valuation</a:t>
            </a:r>
            <a:br/>
            <a:r>
              <a:t>• E-way bill generation pipeline</a:t>
            </a:r>
            <a:br/>
            <a:r>
              <a:t>• Multi-user permission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103" y="1499616"/>
            <a:ext cx="3474720" cy="4937760"/>
          </a:xfrm>
          <a:prstGeom prst="round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7" y="1463040"/>
            <a:ext cx="34747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7" y="1691640"/>
            <a:ext cx="1371600" cy="32004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7" y="21488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Phase 3: 2027 (Planned)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• ICAI fine-tuned accounting LLM</a:t>
            </a:r>
            <a:br/>
            <a:r>
              <a:t>• CA Multi-Firm Client Portal</a:t>
            </a:r>
            <a:br/>
            <a:r>
              <a:t>• Predictive working capital credit scoring</a:t>
            </a:r>
            <a:br/>
            <a:r>
              <a:t>• Automated vendor payouts via UPI/NEFT</a:t>
            </a:r>
            <a:br/>
            <a:r>
              <a:t>• Enterprise API Marketplace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Ready to Transform Indian Business Accounting?</a:t>
            </a:r>
          </a:p>
          <a:p>
            <a:pPr algn="ctr">
              <a:spcBef>
                <a:spcPts val="1600"/>
              </a:spcBef>
              <a:defRPr sz="1800">
                <a:solidFill>
                  <a:srgbClr val="BFDBFE"/>
                </a:solidFill>
                <a:latin typeface="Inter"/>
              </a:defRPr>
            </a:pPr>
            <a:r>
              <a:t>Automate PDF invoice OCR, double-entry ledger posting, and statutory GST &amp; TDS compliance.</a:t>
            </a:r>
          </a:p>
          <a:p>
            <a:pPr algn="ctr">
              <a:spcBef>
                <a:spcPts val="2000"/>
              </a:spcBef>
              <a:defRPr sz="1400" b="1">
                <a:solidFill>
                  <a:srgbClr val="F0FDF4"/>
                </a:solidFill>
                <a:latin typeface="Inter"/>
              </a:defRPr>
            </a:pPr>
            <a:r>
              <a:t>GitHub: github.com/Abhitech-st/Vyapar-Mandap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1104" y="4937760"/>
            <a:ext cx="3657600" cy="6858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61104" y="4937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Explore Live Platform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